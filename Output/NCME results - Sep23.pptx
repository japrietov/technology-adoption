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4" r:id="rId8"/>
    <p:sldId id="261" r:id="rId9"/>
    <p:sldId id="262" r:id="rId10"/>
    <p:sldId id="263" r:id="rId11"/>
    <p:sldId id="265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67"/>
    <p:restoredTop sz="96327"/>
  </p:normalViewPr>
  <p:slideViewPr>
    <p:cSldViewPr>
      <p:cViewPr varScale="1">
        <p:scale>
          <a:sx n="159" d="100"/>
          <a:sy n="159" d="100"/>
        </p:scale>
        <p:origin x="95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0C50C-F46C-8A4B-8A41-6A6FBB958D92}" type="datetimeFigureOut">
              <a:rPr lang="en-US" smtClean="0"/>
              <a:t>9/14/23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3D443-CBAC-934A-8506-FB4DF260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9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4E80A-A71B-6E4E-9506-1D2F4D732B24}" type="datetime1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itle 18">
            <a:extLst>
              <a:ext uri="{FF2B5EF4-FFF2-40B4-BE49-F238E27FC236}">
                <a16:creationId xmlns:a16="http://schemas.microsoft.com/office/drawing/2014/main" id="{DC0A9285-546C-824E-BB82-80DD4A7E5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272" y="2561844"/>
            <a:ext cx="4777596" cy="829533"/>
          </a:xfrm>
          <a:noFill/>
        </p:spPr>
        <p:txBody>
          <a:bodyPr lIns="182880" tIns="182880" rIns="182880" anchor="t">
            <a:normAutofit/>
          </a:bodyPr>
          <a:lstStyle>
            <a:lvl1pPr algn="l"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A6C757-F494-C249-B435-958A389BFC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117" y="590550"/>
            <a:ext cx="994225" cy="999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703C8E5-147E-4644-A094-238B240D41BF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0F22-3D51-8D47-9BDC-3F4D49D359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486150"/>
            <a:ext cx="4776788" cy="762000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3152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11A1-1F5A-564F-90E4-4AC5A214FA5E}" type="datetime1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985433"/>
            <a:ext cx="9144000" cy="1491725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0" name="Picture 9" descr="cu screen b31b1b.psd">
            <a:extLst>
              <a:ext uri="{FF2B5EF4-FFF2-40B4-BE49-F238E27FC236}">
                <a16:creationId xmlns:a16="http://schemas.microsoft.com/office/drawing/2014/main" id="{2F0129F0-F30E-CA46-95D8-485C2699B0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374"/>
          <a:stretch/>
        </p:blipFill>
        <p:spPr>
          <a:xfrm>
            <a:off x="182033" y="402168"/>
            <a:ext cx="1113367" cy="1019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C174D41-7CC7-7D41-8BF1-2412C5E93533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E059B75-688C-714C-A731-B1FA0FCA36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276350"/>
            <a:ext cx="9144000" cy="685800"/>
          </a:xfrm>
        </p:spPr>
        <p:txBody>
          <a:bodyPr anchor="ctr">
            <a:noAutofit/>
          </a:bodyPr>
          <a:lstStyle>
            <a:lvl1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2pPr>
            <a:lvl3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3pPr>
            <a:lvl4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4pPr>
            <a:lvl5pPr marL="0" indent="0" algn="ctr" defTabSz="914377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29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D233-A2CB-3442-8D07-DAEA00802DE9}" type="datetime1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285753" y="1428750"/>
            <a:ext cx="8678863" cy="2884887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285750" y="800100"/>
            <a:ext cx="8677656" cy="514350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ACDC8-27DC-0145-A868-75822BC87982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cu white lrg.psd">
            <a:extLst>
              <a:ext uri="{FF2B5EF4-FFF2-40B4-BE49-F238E27FC236}">
                <a16:creationId xmlns:a16="http://schemas.microsoft.com/office/drawing/2014/main" id="{6E01EECD-840D-AC48-AFCC-03304D0069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/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7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32B-2CB7-3B44-95D1-67E0510BF119}" type="datetime1">
              <a:rPr lang="en-US" smtClean="0"/>
              <a:t>9/14/23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38726" y="3567547"/>
            <a:ext cx="825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solidFill>
                  <a:schemeClr val="bg1"/>
                </a:solidFill>
                <a:latin typeface="Helvetica"/>
                <a:cs typeface="Helvetica"/>
              </a:rPr>
              <a:t>Photos, illustrations, graphics here.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87899" y="461820"/>
            <a:ext cx="8534400" cy="64633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289405" y="1200150"/>
            <a:ext cx="8534400" cy="1600200"/>
          </a:xfrm>
        </p:spPr>
        <p:txBody>
          <a:bodyPr numCol="2"/>
          <a:lstStyle/>
          <a:p>
            <a:pPr lvl="0"/>
            <a:r>
              <a:rPr lang="en-US" dirty="0"/>
              <a:t>Click to edit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75926-5564-7F41-982B-2CA540DB949F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cu white lrg.psd">
            <a:extLst>
              <a:ext uri="{FF2B5EF4-FFF2-40B4-BE49-F238E27FC236}">
                <a16:creationId xmlns:a16="http://schemas.microsoft.com/office/drawing/2014/main" id="{FDCB217E-A06D-974D-8E3A-ED42CE06B2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/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9CB0402-D9EA-C84A-BBAD-7D05BA74691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87338" y="2876550"/>
            <a:ext cx="8535987" cy="17526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Graphic</a:t>
            </a:r>
          </a:p>
        </p:txBody>
      </p:sp>
    </p:spTree>
    <p:extLst>
      <p:ext uri="{BB962C8B-B14F-4D97-AF65-F5344CB8AC3E}">
        <p14:creationId xmlns:p14="http://schemas.microsoft.com/office/powerpoint/2010/main" val="109238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DB29-44E8-FC41-96E7-8A46BDC5764C}" type="datetime1">
              <a:rPr lang="en-US" smtClean="0"/>
              <a:t>9/14/23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38726" y="3567547"/>
            <a:ext cx="825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solidFill>
                  <a:schemeClr val="bg1"/>
                </a:solidFill>
                <a:latin typeface="Helvetica"/>
                <a:cs typeface="Helvetica"/>
              </a:rPr>
              <a:t>Photos, illustrations, graphics here.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 hasCustomPrompt="1"/>
          </p:nvPr>
        </p:nvSpPr>
        <p:spPr>
          <a:xfrm>
            <a:off x="4800605" y="1085850"/>
            <a:ext cx="4050507" cy="36576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Graphic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87899" y="461818"/>
            <a:ext cx="6554707" cy="452582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289410" y="1085850"/>
            <a:ext cx="4358795" cy="3657600"/>
          </a:xfrm>
        </p:spPr>
        <p:txBody>
          <a:bodyPr numCol="1"/>
          <a:lstStyle/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F9335A-E71C-3044-BC65-4FC387DA27B6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cu white lrg.psd">
            <a:extLst>
              <a:ext uri="{FF2B5EF4-FFF2-40B4-BE49-F238E27FC236}">
                <a16:creationId xmlns:a16="http://schemas.microsoft.com/office/drawing/2014/main" id="{497F341F-F847-2445-8EF5-47EF63BEE8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/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1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A38-5065-BA4E-9BAD-5702B035798C}" type="datetime1">
              <a:rPr lang="en-US" smtClean="0"/>
              <a:t>9/14/23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69785"/>
            <a:ext cx="7467600" cy="40395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 hasCustomPrompt="1"/>
          </p:nvPr>
        </p:nvSpPr>
        <p:spPr>
          <a:xfrm>
            <a:off x="838200" y="1123950"/>
            <a:ext cx="7467600" cy="344805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Graphic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D4C3B8-C72A-234F-801D-62CC4EFC1473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cu white lrg.psd">
            <a:extLst>
              <a:ext uri="{FF2B5EF4-FFF2-40B4-BE49-F238E27FC236}">
                <a16:creationId xmlns:a16="http://schemas.microsoft.com/office/drawing/2014/main" id="{0424A742-A864-314F-80E6-E197D7DB73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/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0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2B4A-76E5-AD4E-930D-688A1745053C}" type="datetime1">
              <a:rPr lang="en-US" smtClean="0"/>
              <a:t>9/14/23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E419631-6A90-1D4B-9AC3-E03C8AA89D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286" y="2197058"/>
            <a:ext cx="2498725" cy="679492"/>
          </a:xfrm>
          <a:noFill/>
        </p:spPr>
        <p:txBody>
          <a:bodyPr lIns="182880" tIns="91440" rIns="182880"/>
          <a:lstStyle>
            <a:lvl1pPr marL="0" indent="0">
              <a:buNone/>
              <a:defRPr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64510-7A77-DB43-9098-69BAB51723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627" y="590550"/>
            <a:ext cx="1019218" cy="10247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06357B-88AF-5E41-A0F9-506D230E0D01}"/>
              </a:ext>
            </a:extLst>
          </p:cNvPr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11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21AA4-F587-ED40-A377-6088858A5249}" type="datetime1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0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1" r:id="rId4"/>
    <p:sldLayoutId id="2147483665" r:id="rId5"/>
    <p:sldLayoutId id="2147483657" r:id="rId6"/>
    <p:sldLayoutId id="2147483669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377" rtl="0" eaLnBrk="1" latinLnBrk="0" hangingPunct="1">
        <a:spcBef>
          <a:spcPct val="0"/>
        </a:spcBef>
        <a:buNone/>
        <a:defRPr sz="32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5F1B1-515D-CA35-453D-0E3810A9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717670"/>
            <a:ext cx="8382528" cy="1708160"/>
          </a:xfrm>
        </p:spPr>
        <p:txBody>
          <a:bodyPr>
            <a:spAutoFit/>
          </a:bodyPr>
          <a:lstStyle/>
          <a:p>
            <a:r>
              <a:rPr lang="en-US" sz="3200" dirty="0"/>
              <a:t>Gender differences in technology adoption in the presence of nonclassical measurement error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80B8D-0768-DADA-A754-12F81E4A0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Preliminary results: Sep 2023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8C222-075D-A359-9A15-0AB030C0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8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C0047C-0F71-BC0A-6E79-132746799E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3B384-CF88-DCA7-2B7B-28723DE4D6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" dirty="0"/>
              <a:t>Introduction &amp; Motivation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21248-CDB3-FC61-324A-BF33BA51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5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33DB0A-7B14-C5A3-5083-D1C3E201D7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C9B259-F014-EFA1-CF88-4F27DF9B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US" sz="3200" dirty="0"/>
              <a:t>ender perspective in economic sectors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438C6-C3E8-0D26-4A84-247A3AC9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BB0F86-83A7-CD3F-0297-30500D638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28750"/>
            <a:ext cx="4572000" cy="35554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A830BE-CB38-8E15-D689-1DF31C11AE1A}"/>
              </a:ext>
            </a:extLst>
          </p:cNvPr>
          <p:cNvSpPr/>
          <p:nvPr/>
        </p:nvSpPr>
        <p:spPr>
          <a:xfrm>
            <a:off x="2286000" y="3564719"/>
            <a:ext cx="4572000" cy="914400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5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C0047C-0F71-BC0A-6E79-132746799E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3B384-CF88-DCA7-2B7B-28723DE4D6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" dirty="0"/>
              <a:t>Data description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21248-CDB3-FC61-324A-BF33BA51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9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FFB746-9452-E7D5-364C-A4BE0D0B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64AF6-5CA2-BBB0-36F0-CCBADCE949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753" y="1428750"/>
            <a:ext cx="8678863" cy="2677656"/>
          </a:xfrm>
        </p:spPr>
        <p:txBody>
          <a:bodyPr>
            <a:spAutoFit/>
          </a:bodyPr>
          <a:lstStyle/>
          <a:p>
            <a:r>
              <a:rPr lang="en-US" sz="2000" dirty="0"/>
              <a:t>The 16 states, located across four regions (</a:t>
            </a:r>
            <a:r>
              <a:rPr lang="en-US" sz="2000" b="1" dirty="0"/>
              <a:t>Southwest, Southeast, South-South, and North</a:t>
            </a:r>
            <a:r>
              <a:rPr lang="en-US" sz="2000" dirty="0"/>
              <a:t>) of Nigeria, which contributed at least 80% of the total production of cassava.</a:t>
            </a:r>
          </a:p>
          <a:p>
            <a:r>
              <a:rPr lang="en-US" sz="2000" dirty="0"/>
              <a:t>Unique dataset: subset of the total survey where the interviews were conducted with both the identified </a:t>
            </a:r>
            <a:r>
              <a:rPr lang="en-US" sz="2000" b="1" dirty="0"/>
              <a:t>head of household and an additional member</a:t>
            </a:r>
            <a:r>
              <a:rPr lang="en-US" sz="2000" dirty="0"/>
              <a:t> of the household to create a subset of </a:t>
            </a:r>
            <a:r>
              <a:rPr lang="en-US" sz="2000" b="1" dirty="0"/>
              <a:t>758 households</a:t>
            </a:r>
            <a:r>
              <a:rPr lang="en-US" sz="2000" dirty="0"/>
              <a:t>.</a:t>
            </a:r>
          </a:p>
          <a:p>
            <a:r>
              <a:rPr lang="en-US" sz="2000" dirty="0"/>
              <a:t>Final dataset: Status was </a:t>
            </a:r>
            <a:r>
              <a:rPr lang="en-US" sz="2000" b="1" dirty="0"/>
              <a:t>married</a:t>
            </a:r>
            <a:r>
              <a:rPr lang="en-US" sz="2000" dirty="0"/>
              <a:t>; and, both members reported </a:t>
            </a:r>
            <a:r>
              <a:rPr lang="en-US" sz="2000" b="1" dirty="0"/>
              <a:t>living with spouse</a:t>
            </a:r>
            <a:r>
              <a:rPr lang="en-US" sz="2000" dirty="0"/>
              <a:t>. This eliminated 29 households for a sample of 7</a:t>
            </a:r>
            <a:r>
              <a:rPr lang="en-US" sz="2000" b="1" dirty="0"/>
              <a:t>29 households</a:t>
            </a:r>
            <a:r>
              <a:rPr lang="en-US" sz="20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43C189-E155-CA2E-8D55-E7EE14F8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Cassava Monitoring Survey in Nigeria</a:t>
            </a:r>
          </a:p>
        </p:txBody>
      </p:sp>
    </p:spTree>
    <p:extLst>
      <p:ext uri="{BB962C8B-B14F-4D97-AF65-F5344CB8AC3E}">
        <p14:creationId xmlns:p14="http://schemas.microsoft.com/office/powerpoint/2010/main" val="422230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79A51-EDF5-9DB0-4337-3AFC198B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B3507-F420-3A26-D8AF-3553AB5E9F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C56824-D3F2-1071-262B-2FF08546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3C9C2-A4CB-1317-4132-71C58FB01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27014"/>
            <a:ext cx="4572000" cy="334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9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79A51-EDF5-9DB0-4337-3AFC198B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B3507-F420-3A26-D8AF-3553AB5E9F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C56824-D3F2-1071-262B-2FF08546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statistics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2CA830D-A1BD-E22B-D4D4-068B43434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28750"/>
            <a:ext cx="4572000" cy="306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95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79A51-EDF5-9DB0-4337-3AFC198B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B3507-F420-3A26-D8AF-3553AB5E9F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C56824-D3F2-1071-262B-2FF08546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statistics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32DCD54-5A7A-2E45-BC2F-9253674C5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578" y="1427117"/>
            <a:ext cx="4572000" cy="3450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31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79A51-EDF5-9DB0-4337-3AFC198B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B3507-F420-3A26-D8AF-3553AB5E9F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C56824-D3F2-1071-262B-2FF08546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statistics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E85E6B-AECE-DA66-58D1-8BFD441E6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28750"/>
            <a:ext cx="4572000" cy="306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55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B31B1B"/>
      </a:accent1>
      <a:accent2>
        <a:srgbClr val="4D4F53"/>
      </a:accent2>
      <a:accent3>
        <a:srgbClr val="A2998B"/>
      </a:accent3>
      <a:accent4>
        <a:srgbClr val="EF9595"/>
      </a:accent4>
      <a:accent5>
        <a:srgbClr val="7D7364"/>
      </a:accent5>
      <a:accent6>
        <a:srgbClr val="A8B1C4"/>
      </a:accent6>
      <a:hlink>
        <a:srgbClr val="3B4558"/>
      </a:hlink>
      <a:folHlink>
        <a:srgbClr val="596784"/>
      </a:folHlink>
    </a:clrScheme>
    <a:fontScheme name="Custom 2">
      <a:majorFont>
        <a:latin typeface="Helvetica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9102808-967D-7C45-B952-F50DCD98AF33}" vid="{CF8696D2-C8CE-2B49-849F-4350B18504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E48E5D017E1E4BAC6C235E437E8B81" ma:contentTypeVersion="1" ma:contentTypeDescription="Create a new document." ma:contentTypeScope="" ma:versionID="3614ce1bb16ec63bf293f189bde7aefe">
  <xsd:schema xmlns:xsd="http://www.w3.org/2001/XMLSchema" xmlns:xs="http://www.w3.org/2001/XMLSchema" xmlns:p="http://schemas.microsoft.com/office/2006/metadata/properties" xmlns:ns3="e4c1ce05-e5f0-4c81-a246-c4d1ac965303" targetNamespace="http://schemas.microsoft.com/office/2006/metadata/properties" ma:root="true" ma:fieldsID="4f49565d3251dd9cea50611ca027943f" ns3:_="">
    <xsd:import namespace="e4c1ce05-e5f0-4c81-a246-c4d1ac965303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1ce05-e5f0-4c81-a246-c4d1ac96530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111076-6C93-404C-A722-C485E711B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c1ce05-e5f0-4c81-a246-c4d1ac9653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769373-594B-497F-B29F-9AD96F02CA3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4059</TotalTime>
  <Words>145</Words>
  <Application>Microsoft Macintosh PowerPoint</Application>
  <PresentationFormat>On-screen Show (16:9)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Helvetica</vt:lpstr>
      <vt:lpstr>Times</vt:lpstr>
      <vt:lpstr>Office Theme</vt:lpstr>
      <vt:lpstr>Gender differences in technology adoption in the presence of nonclassical measurement error</vt:lpstr>
      <vt:lpstr>PowerPoint Presentation</vt:lpstr>
      <vt:lpstr>Gender perspective in economic sectors</vt:lpstr>
      <vt:lpstr>PowerPoint Presentation</vt:lpstr>
      <vt:lpstr>Cassava Monitoring Survey in Nigeria</vt:lpstr>
      <vt:lpstr>Description statistics</vt:lpstr>
      <vt:lpstr>Description statistics</vt:lpstr>
      <vt:lpstr>Description statistics</vt:lpstr>
      <vt:lpstr>Description statistics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Clive D. Howard</dc:creator>
  <cp:lastModifiedBy>Jeisson Prieto</cp:lastModifiedBy>
  <cp:revision>23</cp:revision>
  <dcterms:created xsi:type="dcterms:W3CDTF">2020-01-14T16:59:52Z</dcterms:created>
  <dcterms:modified xsi:type="dcterms:W3CDTF">2023-09-15T18:21:25Z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0x010100E4E48E5D017E1E4BAC6C235E437E8B81</vt:lpwstr>
  </property>
</Properties>
</file>