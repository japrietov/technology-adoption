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76" r:id="rId2"/>
    <p:sldMasterId id="2147483688" r:id="rId3"/>
  </p:sldMasterIdLst>
  <p:notesMasterIdLst>
    <p:notesMasterId r:id="rId35"/>
  </p:notesMasterIdLst>
  <p:handoutMasterIdLst>
    <p:handoutMasterId r:id="rId36"/>
  </p:handoutMasterIdLst>
  <p:sldIdLst>
    <p:sldId id="258" r:id="rId4"/>
    <p:sldId id="448" r:id="rId5"/>
    <p:sldId id="449" r:id="rId6"/>
    <p:sldId id="450" r:id="rId7"/>
    <p:sldId id="452" r:id="rId8"/>
    <p:sldId id="437" r:id="rId9"/>
    <p:sldId id="441" r:id="rId10"/>
    <p:sldId id="442" r:id="rId11"/>
    <p:sldId id="453" r:id="rId12"/>
    <p:sldId id="454" r:id="rId13"/>
    <p:sldId id="447" r:id="rId14"/>
    <p:sldId id="457" r:id="rId15"/>
    <p:sldId id="460" r:id="rId16"/>
    <p:sldId id="458" r:id="rId17"/>
    <p:sldId id="459" r:id="rId18"/>
    <p:sldId id="464" r:id="rId19"/>
    <p:sldId id="463" r:id="rId20"/>
    <p:sldId id="461" r:id="rId21"/>
    <p:sldId id="462" r:id="rId22"/>
    <p:sldId id="446" r:id="rId23"/>
    <p:sldId id="443" r:id="rId24"/>
    <p:sldId id="268" r:id="rId25"/>
    <p:sldId id="455" r:id="rId26"/>
    <p:sldId id="456" r:id="rId27"/>
    <p:sldId id="436" r:id="rId28"/>
    <p:sldId id="451" r:id="rId29"/>
    <p:sldId id="435" r:id="rId30"/>
    <p:sldId id="440" r:id="rId31"/>
    <p:sldId id="439" r:id="rId32"/>
    <p:sldId id="445" r:id="rId33"/>
    <p:sldId id="444" r:id="rId34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4F5C"/>
    <a:srgbClr val="D75C5C"/>
    <a:srgbClr val="B31B1B"/>
    <a:srgbClr val="E6EEF6"/>
    <a:srgbClr val="000000"/>
    <a:srgbClr val="444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 autoAdjust="0"/>
    <p:restoredTop sz="95226" autoAdjust="0"/>
  </p:normalViewPr>
  <p:slideViewPr>
    <p:cSldViewPr snapToGrid="0">
      <p:cViewPr varScale="1">
        <p:scale>
          <a:sx n="118" d="100"/>
          <a:sy n="118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ropbox\BoxOld\FEDSshare\MasterGithub\CornellGitHub\DataSynthesisForCropVariety\Gender\MeasureError\MeasurementError\Summary_MeasurementErro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Adoption Rate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Sheet2!$A$2:$A$12</c:f>
              <c:numCache>
                <c:formatCode>0.00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</c:numCache>
            </c:numRef>
          </c:xVal>
          <c:yVal>
            <c:numRef>
              <c:f>Sheet2!$B$2:$B$12</c:f>
              <c:numCache>
                <c:formatCode>0.00</c:formatCode>
                <c:ptCount val="11"/>
                <c:pt idx="0">
                  <c:v>0.635116598079561</c:v>
                </c:pt>
                <c:pt idx="1">
                  <c:v>0.62139917695473201</c:v>
                </c:pt>
                <c:pt idx="2">
                  <c:v>0.61865569272976595</c:v>
                </c:pt>
                <c:pt idx="3">
                  <c:v>0.60493827160493796</c:v>
                </c:pt>
                <c:pt idx="4">
                  <c:v>0.592592592592592</c:v>
                </c:pt>
                <c:pt idx="5">
                  <c:v>0.58847736625514402</c:v>
                </c:pt>
                <c:pt idx="6">
                  <c:v>0.58436213991769503</c:v>
                </c:pt>
                <c:pt idx="7">
                  <c:v>0.58161865569272897</c:v>
                </c:pt>
                <c:pt idx="8">
                  <c:v>0.57201646090534897</c:v>
                </c:pt>
                <c:pt idx="9">
                  <c:v>0.57201646090534897</c:v>
                </c:pt>
                <c:pt idx="10">
                  <c:v>0.55692729766803795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DC-4DDB-BF15-E13F79E4AB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1128112"/>
        <c:axId val="241129072"/>
      </c:scatterChart>
      <c:valAx>
        <c:axId val="24112811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Percentage of female in the sample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129072"/>
        <c:crosses val="autoZero"/>
        <c:crossBetween val="midCat"/>
      </c:valAx>
      <c:valAx>
        <c:axId val="241129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Adoption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1281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2A756-6798-4122-A684-8CB40D143615}" type="datetimeFigureOut">
              <a:rPr lang="en-US" smtClean="0"/>
              <a:t>9/29/23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3EA5B-E699-425E-82E0-90765CDBC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03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144EB-AB3E-4A4E-8E6C-12AA42AB3018}" type="datetimeFigureOut">
              <a:rPr lang="en-US" smtClean="0"/>
              <a:t>9/29/23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E9077-ABC4-4C17-914A-9EFA66870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3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ontent/pdf/10.1007/978-94-017-8616-4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6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Gender in agriculture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Fortmann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Louise. "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Gender in Agriculture Sourcebook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The World Bank, Food and Agricultural Organization, and International Fund for Agricultural Development. Washington DC: The World Bank (2009), pp. 727+ 36pp. index, US $34.95. ISBN 978-0-8213-7587-7."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Experimental Agriculture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45, no. 4 (2009): 515-515.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15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Over the last twenty years, there has been a growing body o</a:t>
            </a: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Ragasa</a:t>
            </a:r>
            <a:r>
              <a:rPr lang="en-US" sz="1200" dirty="0"/>
              <a:t> (2012) found that women have ”much slower observed rates of adoption of a wide range of technologies than men.”</a:t>
            </a: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f research that specifically addresses the issue of measurement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5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83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is 14%</a:t>
            </a:r>
          </a:p>
          <a:p>
            <a:r>
              <a:rPr lang="en-US" dirty="0"/>
              <a:t>The table was created by the python code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0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https://statisticsbyjim.com/hypothesis-testing/paired-t-test/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81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91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30b6153b9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30b6153b9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498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9077-ABC4-4C17-914A-9EFA6687002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6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0548"/>
            <a:ext cx="10515600" cy="49730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47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0548"/>
            <a:ext cx="10515600" cy="49730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838200" y="6352985"/>
            <a:ext cx="10515600" cy="368492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89" indent="0">
              <a:buFont typeface="Arial" panose="020B0604020202020204" pitchFamily="34" charset="0"/>
              <a:buNone/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1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0548"/>
            <a:ext cx="10515600" cy="49730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064"/>
            <a:ext cx="10096500" cy="45735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58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93014"/>
            <a:ext cx="5181600" cy="43513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93014"/>
            <a:ext cx="5181600" cy="43513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9F05-21E8-4B64-89CE-06ED30B6B9C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810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F651-2D30-4DD5-9882-E2186FEBF6E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76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0889_10_C_lr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9/29/23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cu white lrg.ps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712" y="402168"/>
            <a:ext cx="1732845" cy="1267968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1"/>
            <a:ext cx="12192000" cy="22225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437447" y="1828800"/>
            <a:ext cx="6370128" cy="1143000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438154" y="3200423"/>
            <a:ext cx="5516033" cy="106680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FFFFFF"/>
                </a:solidFill>
                <a:latin typeface="+mn-lt"/>
                <a:cs typeface="Times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491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5285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11761" y="5738191"/>
            <a:ext cx="4180726" cy="11198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684764" y="2778488"/>
            <a:ext cx="6085416" cy="1298575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B31B1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1684764" y="4628875"/>
            <a:ext cx="6085416" cy="9144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31B1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95" y="745610"/>
            <a:ext cx="5457127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1062566" y="1199213"/>
            <a:ext cx="10217151" cy="4961495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56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–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2567" y="1199213"/>
            <a:ext cx="4821237" cy="4839007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199213"/>
            <a:ext cx="4828117" cy="4839007"/>
          </a:xfrm>
        </p:spPr>
        <p:txBody>
          <a:bodyPr/>
          <a:lstStyle>
            <a:lvl1pPr>
              <a:defRPr sz="19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56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2 Column w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2566" y="2476502"/>
            <a:ext cx="4821236" cy="3619499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2476502"/>
            <a:ext cx="4828117" cy="3619499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1062566" y="1676400"/>
            <a:ext cx="4821236" cy="736600"/>
          </a:xfrm>
        </p:spPr>
        <p:txBody>
          <a:bodyPr anchor="ctr">
            <a:normAutofit/>
          </a:bodyPr>
          <a:lstStyle>
            <a:lvl1pPr marL="0" indent="0">
              <a:buNone/>
              <a:defRPr sz="21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99200" y="1676400"/>
            <a:ext cx="4828117" cy="736600"/>
          </a:xfrm>
        </p:spPr>
        <p:txBody>
          <a:bodyPr anchor="ctr">
            <a:normAutofit/>
          </a:bodyPr>
          <a:lstStyle>
            <a:lvl1pPr marL="0" indent="0">
              <a:buNone/>
              <a:defRPr sz="21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78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oBullets - White B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62567" y="684212"/>
            <a:ext cx="10217151" cy="914400"/>
          </a:xfrm>
        </p:spPr>
        <p:txBody>
          <a:bodyPr/>
          <a:lstStyle>
            <a:lvl1pPr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62569" y="1948620"/>
            <a:ext cx="5035035" cy="3810000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0119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– White B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798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– White B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329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062566" y="1682750"/>
            <a:ext cx="4821236" cy="4368800"/>
          </a:xfr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99200" y="1682750"/>
            <a:ext cx="4828117" cy="43688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700" i="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976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49934" y="6356351"/>
            <a:ext cx="104608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62567" y="684213"/>
            <a:ext cx="5351463" cy="733425"/>
          </a:xfrm>
        </p:spPr>
        <p:txBody>
          <a:bodyPr/>
          <a:lstStyle>
            <a:lvl1pPr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62568" y="2032000"/>
            <a:ext cx="5351461" cy="3810000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005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o wLead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2567" y="1981200"/>
            <a:ext cx="5197525" cy="2921000"/>
          </a:xfrm>
        </p:spPr>
        <p:txBody>
          <a:bodyPr>
            <a:normAutofit/>
          </a:bodyPr>
          <a:lstStyle>
            <a:lvl1pPr marL="0" indent="0">
              <a:buNone/>
              <a:defRPr sz="25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62566" y="684214"/>
            <a:ext cx="5197525" cy="90963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500"/>
              </a:spcBef>
              <a:buNone/>
              <a:defRPr sz="14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058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11761" y="5738191"/>
            <a:ext cx="4180726" cy="11198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684764" y="2778488"/>
            <a:ext cx="6085416" cy="1298575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B31B1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1684764" y="4628875"/>
            <a:ext cx="6085416" cy="9144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31B1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95" y="745610"/>
            <a:ext cx="5457127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573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1062566" y="1199213"/>
            <a:ext cx="10217151" cy="4961495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5846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–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2567" y="1199213"/>
            <a:ext cx="4821237" cy="4839007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199213"/>
            <a:ext cx="4828117" cy="4839007"/>
          </a:xfrm>
        </p:spPr>
        <p:txBody>
          <a:bodyPr/>
          <a:lstStyle>
            <a:lvl1pPr>
              <a:defRPr sz="19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40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2 Column w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2566" y="2476502"/>
            <a:ext cx="4821236" cy="3619499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2476502"/>
            <a:ext cx="4828117" cy="3619499"/>
          </a:xfrm>
        </p:spPr>
        <p:txBody>
          <a:bodyPr/>
          <a:lstStyle>
            <a:lvl1pPr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1062566" y="1676400"/>
            <a:ext cx="4821236" cy="736600"/>
          </a:xfrm>
        </p:spPr>
        <p:txBody>
          <a:bodyPr anchor="ctr">
            <a:normAutofit/>
          </a:bodyPr>
          <a:lstStyle>
            <a:lvl1pPr marL="0" indent="0">
              <a:buNone/>
              <a:defRPr sz="21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99200" y="1676400"/>
            <a:ext cx="4828117" cy="736600"/>
          </a:xfrm>
        </p:spPr>
        <p:txBody>
          <a:bodyPr anchor="ctr">
            <a:normAutofit/>
          </a:bodyPr>
          <a:lstStyle>
            <a:lvl1pPr marL="0" indent="0">
              <a:buNone/>
              <a:defRPr sz="21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20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oBullets - White B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62567" y="684212"/>
            <a:ext cx="10217151" cy="914400"/>
          </a:xfrm>
        </p:spPr>
        <p:txBody>
          <a:bodyPr/>
          <a:lstStyle>
            <a:lvl1pPr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62569" y="1948620"/>
            <a:ext cx="5035035" cy="3810000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889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– White B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60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– White B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598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062566" y="1682750"/>
            <a:ext cx="4821236" cy="4368800"/>
          </a:xfr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99200" y="1682750"/>
            <a:ext cx="4828117" cy="43688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700" i="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8156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49934" y="6356351"/>
            <a:ext cx="104608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62567" y="684213"/>
            <a:ext cx="5351463" cy="733425"/>
          </a:xfrm>
        </p:spPr>
        <p:txBody>
          <a:bodyPr/>
          <a:lstStyle>
            <a:lvl1pPr>
              <a:defRPr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62568" y="2032000"/>
            <a:ext cx="5351461" cy="3810000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6263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o wLead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2567" y="1981200"/>
            <a:ext cx="5197525" cy="2921000"/>
          </a:xfrm>
        </p:spPr>
        <p:txBody>
          <a:bodyPr>
            <a:normAutofit/>
          </a:bodyPr>
          <a:lstStyle>
            <a:lvl1pPr marL="0" indent="0">
              <a:buNone/>
              <a:defRPr sz="25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62566" y="684214"/>
            <a:ext cx="5197525" cy="90963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500"/>
              </a:spcBef>
              <a:buNone/>
              <a:defRPr sz="1400">
                <a:solidFill>
                  <a:srgbClr val="B3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773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48064"/>
            <a:ext cx="10515600" cy="4573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6506F-A7EF-49D1-80C5-A6428EC7AF1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10" descr="CHDSAEM_3line_pptslide2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1"/>
            <a:ext cx="121920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63614"/>
            <a:ext cx="10515600" cy="509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0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5" r:id="rId2"/>
    <p:sldLayoutId id="2147483674" r:id="rId3"/>
    <p:sldLayoutId id="2147483664" r:id="rId4"/>
    <p:sldLayoutId id="2147483666" r:id="rId5"/>
    <p:sldLayoutId id="2147483673" r:id="rId6"/>
    <p:sldLayoutId id="2147483699" r:id="rId7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2567" y="684212"/>
            <a:ext cx="10226124" cy="410070"/>
          </a:xfrm>
          <a:prstGeom prst="rect">
            <a:avLst/>
          </a:prstGeom>
        </p:spPr>
        <p:txBody>
          <a:bodyPr vert="horz" lIns="0" tIns="0" rIns="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99586" y="6444340"/>
            <a:ext cx="3208588" cy="277136"/>
          </a:xfrm>
          <a:prstGeom prst="rect">
            <a:avLst/>
          </a:prstGeom>
          <a:solidFill>
            <a:srgbClr val="E4E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2567" y="1229193"/>
            <a:ext cx="10226125" cy="490586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3277" y="6356351"/>
            <a:ext cx="1037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31B1B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62567" y="6428275"/>
            <a:ext cx="463296" cy="253916"/>
          </a:xfrm>
          <a:prstGeom prst="rect">
            <a:avLst/>
          </a:prstGeom>
          <a:noFill/>
        </p:spPr>
        <p:txBody>
          <a:bodyPr wrap="square" lIns="0" rIns="0" rtlCol="0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345428-DA33-F545-865B-00EB7D730DA9}" type="slidenum">
              <a:rPr kumimoji="0" lang="en-US" sz="1050" b="1" i="0" u="none" strike="noStrike" kern="1200" cap="none" spc="0" normalizeH="0" baseline="0" noProof="0" smtClean="0">
                <a:ln>
                  <a:noFill/>
                </a:ln>
                <a:solidFill>
                  <a:srgbClr val="B31B1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525864" y="6450744"/>
            <a:ext cx="8532537" cy="215444"/>
          </a:xfrm>
          <a:prstGeom prst="rect">
            <a:avLst/>
          </a:prstGeom>
          <a:noFill/>
        </p:spPr>
        <p:txBody>
          <a:bodyPr wrap="square" lIns="0" rIns="0" rtlCol="0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B31B1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Dyson   |   Cornell SC Johnson College of Business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42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600" b="1" kern="1200">
          <a:solidFill>
            <a:srgbClr val="B31B1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700"/>
        </a:spcBef>
        <a:spcAft>
          <a:spcPts val="500"/>
        </a:spcAft>
        <a:buClr>
          <a:srgbClr val="B31B1B"/>
        </a:buClr>
        <a:buFont typeface="Arial"/>
        <a:buChar char="•"/>
        <a:defRPr sz="1900" kern="1200">
          <a:solidFill>
            <a:srgbClr val="353635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300"/>
        </a:spcBef>
        <a:spcAft>
          <a:spcPts val="500"/>
        </a:spcAft>
        <a:buClr>
          <a:srgbClr val="809699"/>
        </a:buClr>
        <a:buFont typeface="Arial"/>
        <a:buChar char="–"/>
        <a:defRPr sz="1500" kern="1200">
          <a:solidFill>
            <a:srgbClr val="353635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250"/>
        </a:spcBef>
        <a:spcAft>
          <a:spcPts val="500"/>
        </a:spcAft>
        <a:buClr>
          <a:srgbClr val="B31B1B"/>
        </a:buClr>
        <a:buFont typeface="Arial"/>
        <a:buChar char="•"/>
        <a:defRPr sz="1400" kern="1200">
          <a:solidFill>
            <a:srgbClr val="353635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200"/>
        </a:spcBef>
        <a:spcAft>
          <a:spcPts val="500"/>
        </a:spcAft>
        <a:buClr>
          <a:srgbClr val="809699"/>
        </a:buClr>
        <a:buFont typeface="Arial"/>
        <a:buChar char="–"/>
        <a:defRPr sz="1300" kern="1200">
          <a:solidFill>
            <a:srgbClr val="353635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50"/>
        </a:spcBef>
        <a:spcAft>
          <a:spcPts val="500"/>
        </a:spcAft>
        <a:buClr>
          <a:srgbClr val="B31B1B"/>
        </a:buClr>
        <a:buFont typeface="Arial"/>
        <a:buChar char="•"/>
        <a:defRPr sz="1200" kern="1200">
          <a:solidFill>
            <a:srgbClr val="353635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2567" y="684212"/>
            <a:ext cx="10226124" cy="410070"/>
          </a:xfrm>
          <a:prstGeom prst="rect">
            <a:avLst/>
          </a:prstGeom>
        </p:spPr>
        <p:txBody>
          <a:bodyPr vert="horz" lIns="0" tIns="0" rIns="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99586" y="6444340"/>
            <a:ext cx="3208588" cy="277136"/>
          </a:xfrm>
          <a:prstGeom prst="rect">
            <a:avLst/>
          </a:prstGeom>
          <a:solidFill>
            <a:srgbClr val="E4E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2567" y="1229193"/>
            <a:ext cx="10226125" cy="490586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3277" y="6356351"/>
            <a:ext cx="1037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31B1B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062567" y="6428275"/>
            <a:ext cx="463296" cy="253916"/>
          </a:xfrm>
          <a:prstGeom prst="rect">
            <a:avLst/>
          </a:prstGeom>
          <a:noFill/>
        </p:spPr>
        <p:txBody>
          <a:bodyPr wrap="square" lIns="0" rIns="0" rtlCol="0" anchor="b" anchorCtr="0">
            <a:spAutoFit/>
          </a:bodyPr>
          <a:lstStyle/>
          <a:p>
            <a:fld id="{70345428-DA33-F545-865B-00EB7D730DA9}" type="slidenum">
              <a:rPr lang="en-US" sz="1050" b="1" smtClean="0">
                <a:solidFill>
                  <a:srgbClr val="B31B1B"/>
                </a:solidFill>
              </a:rPr>
              <a:t>‹#›</a:t>
            </a:fld>
            <a:endParaRPr lang="en-US" sz="800" b="0" dirty="0">
              <a:solidFill>
                <a:srgbClr val="B31B1B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525864" y="6450744"/>
            <a:ext cx="8532537" cy="215444"/>
          </a:xfrm>
          <a:prstGeom prst="rect">
            <a:avLst/>
          </a:prstGeom>
          <a:noFill/>
        </p:spPr>
        <p:txBody>
          <a:bodyPr wrap="square" lIns="0" rIns="0" rtlCol="0" anchor="b" anchorCtr="0">
            <a:spAutoFit/>
          </a:bodyPr>
          <a:lstStyle/>
          <a:p>
            <a:r>
              <a:rPr lang="en-US" sz="800" b="1" baseline="0" dirty="0">
                <a:solidFill>
                  <a:srgbClr val="B31B1B"/>
                </a:solidFill>
              </a:rPr>
              <a:t>Dyson   |   C</a:t>
            </a:r>
            <a:r>
              <a:rPr lang="en-US" sz="800" b="1" dirty="0">
                <a:solidFill>
                  <a:srgbClr val="B31B1B"/>
                </a:solidFill>
              </a:rPr>
              <a:t>ornell SC Johnson College</a:t>
            </a:r>
            <a:r>
              <a:rPr lang="en-US" sz="800" b="1" baseline="0" dirty="0">
                <a:solidFill>
                  <a:srgbClr val="B31B1B"/>
                </a:solidFill>
              </a:rPr>
              <a:t> of</a:t>
            </a:r>
            <a:r>
              <a:rPr lang="en-US" sz="800" b="1" dirty="0">
                <a:solidFill>
                  <a:srgbClr val="B31B1B"/>
                </a:solidFill>
              </a:rPr>
              <a:t> Business</a:t>
            </a:r>
            <a:r>
              <a:rPr lang="en-US" sz="800" b="1" baseline="0" dirty="0">
                <a:solidFill>
                  <a:srgbClr val="B31B1B"/>
                </a:solidFill>
              </a:rPr>
              <a:t> </a:t>
            </a:r>
            <a:endParaRPr lang="en-US" sz="800" b="0" dirty="0">
              <a:solidFill>
                <a:srgbClr val="B31B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6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600" b="1" kern="1200">
          <a:solidFill>
            <a:srgbClr val="B31B1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700"/>
        </a:spcBef>
        <a:spcAft>
          <a:spcPts val="500"/>
        </a:spcAft>
        <a:buClr>
          <a:srgbClr val="B31B1B"/>
        </a:buClr>
        <a:buFont typeface="Arial"/>
        <a:buChar char="•"/>
        <a:defRPr sz="1900" kern="1200">
          <a:solidFill>
            <a:srgbClr val="353635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300"/>
        </a:spcBef>
        <a:spcAft>
          <a:spcPts val="500"/>
        </a:spcAft>
        <a:buClr>
          <a:srgbClr val="809699"/>
        </a:buClr>
        <a:buFont typeface="Arial"/>
        <a:buChar char="–"/>
        <a:defRPr sz="1500" kern="1200">
          <a:solidFill>
            <a:srgbClr val="353635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250"/>
        </a:spcBef>
        <a:spcAft>
          <a:spcPts val="500"/>
        </a:spcAft>
        <a:buClr>
          <a:srgbClr val="B31B1B"/>
        </a:buClr>
        <a:buFont typeface="Arial"/>
        <a:buChar char="•"/>
        <a:defRPr sz="1400" kern="1200">
          <a:solidFill>
            <a:srgbClr val="353635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200"/>
        </a:spcBef>
        <a:spcAft>
          <a:spcPts val="500"/>
        </a:spcAft>
        <a:buClr>
          <a:srgbClr val="809699"/>
        </a:buClr>
        <a:buFont typeface="Arial"/>
        <a:buChar char="–"/>
        <a:defRPr sz="1300" kern="1200">
          <a:solidFill>
            <a:srgbClr val="353635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50"/>
        </a:spcBef>
        <a:spcAft>
          <a:spcPts val="500"/>
        </a:spcAft>
        <a:buClr>
          <a:srgbClr val="B31B1B"/>
        </a:buClr>
        <a:buFont typeface="Arial"/>
        <a:buChar char="•"/>
        <a:defRPr sz="1200" kern="1200">
          <a:solidFill>
            <a:srgbClr val="353635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ndfonline.com/doi/full/10.1080/10485250902874688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9" name="Subtitle 5">
            <a:extLst>
              <a:ext uri="{FF2B5EF4-FFF2-40B4-BE49-F238E27FC236}">
                <a16:creationId xmlns:a16="http://schemas.microsoft.com/office/drawing/2014/main" id="{FD20E5FA-568E-4D03-BE6F-DD080984EC6C}"/>
              </a:ext>
            </a:extLst>
          </p:cNvPr>
          <p:cNvSpPr txBox="1">
            <a:spLocks/>
          </p:cNvSpPr>
          <p:nvPr/>
        </p:nvSpPr>
        <p:spPr>
          <a:xfrm>
            <a:off x="1909181" y="3509432"/>
            <a:ext cx="8373637" cy="9144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457200" rtl="0" eaLnBrk="1" latinLnBrk="0" hangingPunct="1">
              <a:spcBef>
                <a:spcPts val="700"/>
              </a:spcBef>
              <a:spcAft>
                <a:spcPts val="500"/>
              </a:spcAft>
              <a:buClr>
                <a:srgbClr val="B31B1B"/>
              </a:buClr>
              <a:buFont typeface="Arial"/>
              <a:buNone/>
              <a:defRPr sz="2000" kern="1200">
                <a:solidFill>
                  <a:srgbClr val="B31B1B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300"/>
              </a:spcBef>
              <a:spcAft>
                <a:spcPts val="500"/>
              </a:spcAft>
              <a:buClr>
                <a:srgbClr val="809699"/>
              </a:buClr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250"/>
              </a:spcBef>
              <a:spcAft>
                <a:spcPts val="500"/>
              </a:spcAft>
              <a:buClr>
                <a:srgbClr val="B31B1B"/>
              </a:buClr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200"/>
              </a:spcBef>
              <a:spcAft>
                <a:spcPts val="500"/>
              </a:spcAft>
              <a:buClr>
                <a:srgbClr val="809699"/>
              </a:buClr>
              <a:buFont typeface="Arial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50"/>
              </a:spcBef>
              <a:spcAft>
                <a:spcPts val="500"/>
              </a:spcAft>
              <a:buClr>
                <a:srgbClr val="B31B1B"/>
              </a:buClr>
              <a:buFont typeface="Arial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500"/>
              </a:spcAft>
              <a:buClr>
                <a:srgbClr val="B31B1B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500"/>
              </a:spcAft>
              <a:buClr>
                <a:srgbClr val="B31B1B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Presenter: Jing Yi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500"/>
              </a:spcAft>
              <a:buClr>
                <a:srgbClr val="B31B1B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ctr">
              <a:defRPr/>
            </a:pPr>
            <a:r>
              <a:rPr lang="en-US" sz="1800" dirty="0">
                <a:solidFill>
                  <a:srgbClr val="353635"/>
                </a:solidFill>
                <a:latin typeface="Arial"/>
              </a:rPr>
              <a:t>This material is prepared for the presentation </a:t>
            </a:r>
            <a:r>
              <a:rPr lang="en-US" altLang="zh-CN" sz="1800" dirty="0">
                <a:solidFill>
                  <a:srgbClr val="353635"/>
                </a:solidFill>
                <a:latin typeface="Arial"/>
              </a:rPr>
              <a:t>on April 19, 2023</a:t>
            </a:r>
            <a:endParaRPr lang="en-US" sz="1800" dirty="0">
              <a:solidFill>
                <a:srgbClr val="353635"/>
              </a:solidFill>
              <a:latin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500"/>
              </a:spcAft>
              <a:buClr>
                <a:srgbClr val="B31B1B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7AEAF3E5-5D26-4544-8274-5C7BEB8A0F42}"/>
              </a:ext>
            </a:extLst>
          </p:cNvPr>
          <p:cNvSpPr txBox="1">
            <a:spLocks/>
          </p:cNvSpPr>
          <p:nvPr/>
        </p:nvSpPr>
        <p:spPr>
          <a:xfrm>
            <a:off x="2002255" y="2049993"/>
            <a:ext cx="8627209" cy="1298575"/>
          </a:xfrm>
          <a:prstGeom prst="rect">
            <a:avLst/>
          </a:prstGeom>
        </p:spPr>
        <p:txBody>
          <a:bodyPr vert="horz" lIns="0" tIns="0" rIns="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B31B1B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" sz="3600" dirty="0"/>
              <a:t>Estimating the gender differences in technology adoption in the presence of (nonclassical) measurement error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B31B1B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364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C4D1-A164-0544-1EAD-C26A5984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3F00-8710-1F4D-AD33-9FA6DBDD4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000" dirty="0"/>
              <a:t>The importance of incorporating a gender perspective in social and economic sectors </a:t>
            </a:r>
          </a:p>
          <a:p>
            <a:pPr marL="14859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0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/>
              <a:t>Literature (World Bank, FAO, Quisumbing et al. (2014), </a:t>
            </a:r>
            <a:r>
              <a:rPr lang="en-US" sz="1800" dirty="0" err="1"/>
              <a:t>Fortmann</a:t>
            </a:r>
            <a:r>
              <a:rPr lang="en-US" sz="1800" dirty="0"/>
              <a:t> (2009)) has emphasized that neglecting to acknowledge the varying roles, disparities, and inequalities between men and women in the agricultural sector poses a significant risk to the success of agricultural development efforts</a:t>
            </a:r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2000" i="1" dirty="0"/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i="1" dirty="0"/>
              <a:t>Adoption/yield/income/technology </a:t>
            </a:r>
            <a:r>
              <a:rPr lang="en-US" sz="2000" dirty="0"/>
              <a:t>= </a:t>
            </a:r>
            <a:r>
              <a:rPr lang="en-US" sz="2000" i="1" dirty="0"/>
              <a:t>f </a:t>
            </a:r>
            <a:r>
              <a:rPr lang="en-US" sz="2000" dirty="0"/>
              <a:t>(</a:t>
            </a:r>
            <a:r>
              <a:rPr lang="en-US" sz="2000" i="1" dirty="0"/>
              <a:t>assets</a:t>
            </a:r>
            <a:r>
              <a:rPr lang="en-US" sz="2000" dirty="0"/>
              <a:t>, </a:t>
            </a:r>
            <a:r>
              <a:rPr lang="en-US" sz="2000" i="1" dirty="0"/>
              <a:t>gender</a:t>
            </a:r>
            <a:r>
              <a:rPr lang="en-US" sz="2000" dirty="0"/>
              <a:t>, </a:t>
            </a:r>
            <a:r>
              <a:rPr lang="en-US" sz="2000" i="1" dirty="0"/>
              <a:t>education</a:t>
            </a:r>
            <a:r>
              <a:rPr lang="en-US" sz="2000" dirty="0"/>
              <a:t>, age,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0EA1-0D11-C3FA-6300-C0F1F1AF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4EACDD-BB40-678F-1141-E4A52CEBA73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2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C6DC-22A8-BBF6-1548-02A86AAA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2DF5D-1DC1-1FD8-247A-B3821BB4E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271DF-1301-0999-8DB1-C9A75097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F09F4-D8AB-77B8-6DA2-BF65DFA5ACE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6" name="Google Shape;87;p18">
            <a:extLst>
              <a:ext uri="{FF2B5EF4-FFF2-40B4-BE49-F238E27FC236}">
                <a16:creationId xmlns:a16="http://schemas.microsoft.com/office/drawing/2014/main" id="{2E05A080-E041-824E-2A0D-990D14E6CB8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1945" y="1548064"/>
            <a:ext cx="8270255" cy="43756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071629-175D-925E-A015-223EAAA97947}"/>
              </a:ext>
            </a:extLst>
          </p:cNvPr>
          <p:cNvSpPr/>
          <p:nvPr/>
        </p:nvSpPr>
        <p:spPr>
          <a:xfrm>
            <a:off x="1415845" y="3429000"/>
            <a:ext cx="9163665" cy="1585452"/>
          </a:xfrm>
          <a:prstGeom prst="rect">
            <a:avLst/>
          </a:prstGeom>
          <a:noFill/>
          <a:ln w="222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73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6783-EBA7-DB1E-8832-496D89B4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Introduction &amp; Motivation (count.)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56A3E-8DDC-2AD6-B14D-C52031632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US" sz="2400" dirty="0"/>
              <a:t>self-reported data is possibly misclassified </a:t>
            </a:r>
          </a:p>
          <a:p>
            <a:pPr marL="914389" lvl="1" indent="-308610">
              <a:spcBef>
                <a:spcPts val="1200"/>
              </a:spcBef>
              <a:buSzPct val="100000"/>
              <a:buChar char="-"/>
            </a:pPr>
            <a:r>
              <a:rPr lang="en-US" sz="2000" dirty="0"/>
              <a:t>Survey data on participation in social programs is subject to significant misreporting, with levels of misreporting that can reach as high as 50% (Meyer et al., 2009)</a:t>
            </a:r>
          </a:p>
          <a:p>
            <a:pPr marL="1371577" lvl="2" indent="-308610">
              <a:spcBef>
                <a:spcPts val="1200"/>
              </a:spcBef>
              <a:buSzPct val="100000"/>
              <a:buChar char="-"/>
            </a:pPr>
            <a:r>
              <a:rPr lang="en-US" sz="1600" dirty="0"/>
              <a:t>Meyer, Bruce D., Nikolas </a:t>
            </a:r>
            <a:r>
              <a:rPr lang="en-US" sz="1600" dirty="0" err="1"/>
              <a:t>Mittag</a:t>
            </a:r>
            <a:r>
              <a:rPr lang="en-US" sz="1600" dirty="0"/>
              <a:t>, and Robert M. </a:t>
            </a:r>
            <a:r>
              <a:rPr lang="en-US" sz="1600" dirty="0" err="1"/>
              <a:t>Goerge</a:t>
            </a:r>
            <a:r>
              <a:rPr lang="en-US" sz="1600" dirty="0"/>
              <a:t>. "Errors in survey reporting and imputation and their effects on estimates of food stamp program participation." Journal of Human Resources 57, no. 5 (2022): 1605-1644.</a:t>
            </a:r>
          </a:p>
          <a:p>
            <a:pPr marL="1371577" lvl="2" indent="-308610">
              <a:spcBef>
                <a:spcPts val="1200"/>
              </a:spcBef>
              <a:buSzPct val="100000"/>
              <a:buChar char="-"/>
            </a:pPr>
            <a:endParaRPr lang="en-US" sz="16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000" dirty="0" err="1"/>
              <a:t>Wossen</a:t>
            </a:r>
            <a:r>
              <a:rPr lang="en-US" sz="2000" dirty="0"/>
              <a:t> et al. (2019) indicated that the misreporting of adoption status is not exogenous to the household’s characteristics.</a:t>
            </a:r>
          </a:p>
          <a:p>
            <a:pPr marL="623570" lvl="1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0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000" dirty="0"/>
              <a:t>Lynch et al. (2007) and Meyer et al. (2018) report that validation studies always find high rates of false negatives in the Supplemental Nutrition Assistance Program (SNAP) ranging from 20% to 50%, depending on the survey and period after reviewing 35 case studies</a:t>
            </a:r>
          </a:p>
          <a:p>
            <a:pPr marL="623570" lvl="1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000" dirty="0"/>
          </a:p>
          <a:p>
            <a:pPr marL="914377" lvl="2" indent="0">
              <a:buNone/>
            </a:pPr>
            <a:r>
              <a:rPr lang="en-US" sz="1600" dirty="0"/>
              <a:t>  - Meyer, Bruce D., and Derek Wu. "The poverty reduction of social security and means-tested transfers." ILR Review 71, no. 5 (2018): 1106-1153.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B6998-89CC-D007-FFF5-59CC5719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ABD23D-2B8B-6A68-CB6D-2EA41E2D39A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1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271DF-1301-0999-8DB1-C9A75097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F09F4-D8AB-77B8-6DA2-BF65DFA5ACE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D8B2C-5252-222F-4F64-5E9189BF8E5A}"/>
              </a:ext>
            </a:extLst>
          </p:cNvPr>
          <p:cNvSpPr txBox="1"/>
          <p:nvPr/>
        </p:nvSpPr>
        <p:spPr>
          <a:xfrm>
            <a:off x="797027" y="5518120"/>
            <a:ext cx="8975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Adoption/yield/income/technology </a:t>
            </a:r>
            <a:r>
              <a:rPr lang="en-US" sz="1800" b="1" dirty="0">
                <a:solidFill>
                  <a:srgbClr val="FF0000"/>
                </a:solidFill>
              </a:rPr>
              <a:t>= </a:t>
            </a:r>
            <a:r>
              <a:rPr lang="en-US" sz="1800" b="1" i="1" dirty="0">
                <a:solidFill>
                  <a:srgbClr val="FF0000"/>
                </a:solidFill>
              </a:rPr>
              <a:t>f 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i="1" dirty="0">
                <a:solidFill>
                  <a:srgbClr val="FF0000"/>
                </a:solidFill>
              </a:rPr>
              <a:t>assets</a:t>
            </a:r>
            <a:r>
              <a:rPr lang="en-US" sz="1800" b="1" dirty="0">
                <a:solidFill>
                  <a:srgbClr val="FF0000"/>
                </a:solidFill>
              </a:rPr>
              <a:t>, </a:t>
            </a:r>
            <a:r>
              <a:rPr lang="en-US" sz="1800" b="1" i="1" dirty="0">
                <a:solidFill>
                  <a:srgbClr val="FF0000"/>
                </a:solidFill>
              </a:rPr>
              <a:t>gender</a:t>
            </a:r>
            <a:r>
              <a:rPr lang="en-US" sz="1800" b="1" dirty="0">
                <a:solidFill>
                  <a:srgbClr val="FF0000"/>
                </a:solidFill>
              </a:rPr>
              <a:t>, </a:t>
            </a:r>
            <a:r>
              <a:rPr lang="en-US" sz="1800" b="1" i="1" dirty="0">
                <a:solidFill>
                  <a:srgbClr val="FF0000"/>
                </a:solidFill>
              </a:rPr>
              <a:t>education</a:t>
            </a:r>
            <a:r>
              <a:rPr lang="en-US" sz="1800" b="1" dirty="0">
                <a:solidFill>
                  <a:srgbClr val="FF0000"/>
                </a:solidFill>
              </a:rPr>
              <a:t>, age, etc.)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9E020-2689-8C36-A03E-6B768FEFD65B}"/>
              </a:ext>
            </a:extLst>
          </p:cNvPr>
          <p:cNvSpPr txBox="1"/>
          <p:nvPr/>
        </p:nvSpPr>
        <p:spPr>
          <a:xfrm>
            <a:off x="838200" y="3064779"/>
            <a:ext cx="1006464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endParaRPr lang="en-US" sz="18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b="1" dirty="0"/>
              <a:t>Gender difference in adoption or difference in reporting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endParaRPr lang="en-US" b="1" dirty="0"/>
          </a:p>
          <a:p>
            <a:pPr marL="914400" lvl="1" indent="-290830">
              <a:buSzPct val="100000"/>
              <a:buFontTx/>
              <a:buChar char="-"/>
            </a:pPr>
            <a:r>
              <a:rPr lang="en-US" sz="1800" dirty="0" err="1"/>
              <a:t>Ragasa</a:t>
            </a:r>
            <a:r>
              <a:rPr lang="en-US" sz="1800" dirty="0"/>
              <a:t> (2012) found that women have ”much slower </a:t>
            </a:r>
            <a:r>
              <a:rPr lang="en-US" sz="1800" b="1" dirty="0"/>
              <a:t>observed</a:t>
            </a:r>
            <a:r>
              <a:rPr lang="en-US" sz="1800" dirty="0"/>
              <a:t> rates of adoption of a wide range of technologies than men.</a:t>
            </a:r>
          </a:p>
          <a:p>
            <a:pPr marL="914400" lvl="1" indent="-290830">
              <a:buSzPct val="100000"/>
              <a:buFontTx/>
              <a:buChar char="-"/>
            </a:pPr>
            <a:endParaRPr lang="en-US" sz="1800" dirty="0"/>
          </a:p>
          <a:p>
            <a:pPr marL="1371600" lvl="2" indent="-290830">
              <a:buSzPct val="100000"/>
              <a:buFontTx/>
              <a:buChar char="-"/>
            </a:pPr>
            <a:r>
              <a:rPr lang="en-US" sz="1400" dirty="0" err="1"/>
              <a:t>Ragasa</a:t>
            </a:r>
            <a:r>
              <a:rPr lang="en-US" sz="1400" dirty="0"/>
              <a:t>, Catherine. "Gender and institutional dimensions of agricultural technology adoption: a review of literature and synthesis of 35 case studies." (2012).</a:t>
            </a:r>
            <a:endParaRPr lang="en-US" sz="1800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79E2B7-0B03-E97C-258E-5AAD7216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0548"/>
            <a:ext cx="10515600" cy="497306"/>
          </a:xfrm>
        </p:spPr>
        <p:txBody>
          <a:bodyPr>
            <a:normAutofit fontScale="90000"/>
          </a:bodyPr>
          <a:lstStyle/>
          <a:p>
            <a:r>
              <a:rPr lang="en" dirty="0"/>
              <a:t>Introduction &amp; Motivation (count.)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2C1A17-6106-F1BA-7E13-3E3446CE3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81" y="1714238"/>
            <a:ext cx="8330425" cy="15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5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ED55-2349-DC30-2BBB-7C9F6854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the paper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CA36D-FF62-9D74-3DB0-2BD05AE4E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-US" sz="2800" dirty="0">
                <a:solidFill>
                  <a:schemeClr val="dk1"/>
                </a:solidFill>
              </a:rPr>
              <a:t>The impact of measurement error on parameter estimates</a:t>
            </a: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-US" sz="2800" dirty="0">
                <a:solidFill>
                  <a:schemeClr val="dk1"/>
                </a:solidFill>
              </a:rPr>
              <a:t>Evidence on measurement error in Cassava survey</a:t>
            </a: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-US" sz="2800" dirty="0">
                <a:solidFill>
                  <a:schemeClr val="dk1"/>
                </a:solidFill>
              </a:rPr>
              <a:t>Correcting for measurement error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4AA14-E9FA-DA77-029F-58F2D3C6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5D5B2D-9C17-5DBF-E96F-39E30D62B78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5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0C87-8C11-09DC-F49D-99B91AD9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" sz="3200" dirty="0"/>
              <a:t>The impact of measurement error on parameter estimates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96D0-F413-E870-E916-D1F5DC513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sz="2800" dirty="0">
                <a:solidFill>
                  <a:srgbClr val="222222"/>
                </a:solidFill>
                <a:highlight>
                  <a:srgbClr val="FFFFFF"/>
                </a:highlight>
              </a:rPr>
              <a:t>Gundersen, C. and Kreider, B., 2008. Food stamps and food insecurity what can be learned in the presence of nonclassical measurement error?. </a:t>
            </a:r>
            <a:r>
              <a:rPr lang="en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Journal of Human Resources</a:t>
            </a:r>
            <a:r>
              <a:rPr lang="en" sz="2800" dirty="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43</a:t>
            </a:r>
            <a:r>
              <a:rPr lang="en" sz="2800" dirty="0">
                <a:solidFill>
                  <a:srgbClr val="222222"/>
                </a:solidFill>
                <a:highlight>
                  <a:srgbClr val="FFFFFF"/>
                </a:highlight>
              </a:rPr>
              <a:t>(2), pp.352-382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F2A0A-F0E0-60F4-4B87-7C5E32DB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229890-DCE0-3893-197E-A5D29276084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6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3460-D4C4-D723-697E-2C6FC354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Evidence on measurement error in Cassava survey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7D04-0162-2E21-86B9-601319B4C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Compared reported income in the 1977 wave of the Current Population Survey to the social security match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fiel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for respondents who provided a valid social security number. They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ofund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that measurement error is correlated with the true valuable, especially in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te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tails of the distribution. [Bound, John, and Alan B. Krueger. "The extent of measurement error in longitudinal earnings data: Do two wrongs make a right?." </a:t>
            </a:r>
            <a:r>
              <a:rPr lang="en-US" sz="1800" i="1" dirty="0">
                <a:solidFill>
                  <a:srgbClr val="222222"/>
                </a:solidFill>
                <a:highlight>
                  <a:srgbClr val="FFFFFF"/>
                </a:highlight>
              </a:rPr>
              <a:t>Journal of labor economics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9, no. 1 (1991): 1-24.]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At the same time, for want of alternative measures, econometric analyses of the labor supply decisions of older men and women have generally used respondents' self-assessment of their health. However, Myers ( 1982) has gone so far as to argue that there is 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no useful information 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in self-evaluated health. Men out of the labor force may mention health limitations to rationalize their behavior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23C8-BC89-31AC-4414-276333CB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E720A9-FD92-7055-9F21-FDEB62F7FA5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21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303C-6DFF-EEA5-A536-039DA406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B85C-99C7-BB80-91FD-10147BDA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 subset of data compiled through the Cassava Monitoring Survey in Nigeria conducted,</a:t>
            </a:r>
          </a:p>
          <a:p>
            <a:r>
              <a:rPr lang="en-US" sz="2000" dirty="0"/>
              <a:t>Reviewed for ethics regarding human subject participation (IRB) and published by the International Institute of Tropical Agriculture (IITA) (</a:t>
            </a:r>
            <a:r>
              <a:rPr lang="en-US" sz="2000" dirty="0" err="1"/>
              <a:t>Wossen</a:t>
            </a:r>
            <a:r>
              <a:rPr lang="en-US" sz="2000" dirty="0"/>
              <a:t> et al., 2017).</a:t>
            </a:r>
          </a:p>
          <a:p>
            <a:r>
              <a:rPr lang="en-US" sz="2000" dirty="0"/>
              <a:t>The 16 states that contributed at least 80% of the total production of cassava comprise the enumeration areas (EA) across four regions (Southwest, Southeast, South-South, and North) were obtained from the National Population Commission of Nigeria.</a:t>
            </a:r>
          </a:p>
          <a:p>
            <a:endParaRPr lang="en-US" sz="2000" dirty="0"/>
          </a:p>
          <a:p>
            <a:r>
              <a:rPr lang="en-US" dirty="0"/>
              <a:t>758 households </a:t>
            </a:r>
            <a:r>
              <a:rPr lang="en-US" dirty="0">
                <a:sym typeface="Wingdings" panose="05000000000000000000" pitchFamily="2" charset="2"/>
              </a:rPr>
              <a:t> 729 HH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FB3C7-D0DE-A689-99EA-E52B24C0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F98D8E-15E3-122F-A844-F2A3AE31AB6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9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DDBF-9E97-2E3D-14C9-253C3689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(count.)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7BF17-A870-F578-0744-848C181F4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49037-0CAE-C527-1710-149D5FA0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0BAF9E-817F-19F6-C4F5-ABD4B66542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94FB35-ADDD-41CF-AFCA-3573A2EC5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17" y="1291184"/>
            <a:ext cx="7437765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128A1-E728-AB17-48FB-1A54225F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DC0E37-F80F-423B-874D-3C19201AC580}" type="slidenum">
              <a:rPr lang="en-US" altLang="en-US" smtClean="0"/>
              <a:pPr>
                <a:spcAft>
                  <a:spcPts val="600"/>
                </a:spcAft>
              </a:pPr>
              <a:t>11</a:t>
            </a:fld>
            <a:endParaRPr lang="en-US" alt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3C3EA9-3A08-A9BE-D434-930A22B95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729934"/>
              </p:ext>
            </p:extLst>
          </p:nvPr>
        </p:nvGraphicFramePr>
        <p:xfrm>
          <a:off x="628088" y="2416368"/>
          <a:ext cx="3474680" cy="1193106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096694">
                  <a:extLst>
                    <a:ext uri="{9D8B030D-6E8A-4147-A177-3AD203B41FA5}">
                      <a16:colId xmlns:a16="http://schemas.microsoft.com/office/drawing/2014/main" val="3457281552"/>
                    </a:ext>
                  </a:extLst>
                </a:gridCol>
                <a:gridCol w="701907">
                  <a:extLst>
                    <a:ext uri="{9D8B030D-6E8A-4147-A177-3AD203B41FA5}">
                      <a16:colId xmlns:a16="http://schemas.microsoft.com/office/drawing/2014/main" val="4022159175"/>
                    </a:ext>
                  </a:extLst>
                </a:gridCol>
                <a:gridCol w="916997">
                  <a:extLst>
                    <a:ext uri="{9D8B030D-6E8A-4147-A177-3AD203B41FA5}">
                      <a16:colId xmlns:a16="http://schemas.microsoft.com/office/drawing/2014/main" val="284961443"/>
                    </a:ext>
                  </a:extLst>
                </a:gridCol>
                <a:gridCol w="759082">
                  <a:extLst>
                    <a:ext uri="{9D8B030D-6E8A-4147-A177-3AD203B41FA5}">
                      <a16:colId xmlns:a16="http://schemas.microsoft.com/office/drawing/2014/main" val="2187152173"/>
                    </a:ext>
                  </a:extLst>
                </a:gridCol>
              </a:tblGrid>
              <a:tr h="59655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p-value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026903675"/>
                  </a:ext>
                </a:extLst>
              </a:tr>
              <a:tr h="59655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Adoption rate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0.64</a:t>
                      </a:r>
                      <a:endParaRPr lang="en-US" sz="3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0.56</a:t>
                      </a:r>
                      <a:endParaRPr lang="en-US" sz="3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0.002</a:t>
                      </a:r>
                      <a:endParaRPr lang="en-US" sz="3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2113600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B67B0E-94AC-4405-E834-3DF7CB520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639"/>
              </p:ext>
            </p:extLst>
          </p:nvPr>
        </p:nvGraphicFramePr>
        <p:xfrm>
          <a:off x="4195787" y="2416368"/>
          <a:ext cx="2910349" cy="3323124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759952">
                  <a:extLst>
                    <a:ext uri="{9D8B030D-6E8A-4147-A177-3AD203B41FA5}">
                      <a16:colId xmlns:a16="http://schemas.microsoft.com/office/drawing/2014/main" val="3129987093"/>
                    </a:ext>
                  </a:extLst>
                </a:gridCol>
                <a:gridCol w="2150397">
                  <a:extLst>
                    <a:ext uri="{9D8B030D-6E8A-4147-A177-3AD203B41FA5}">
                      <a16:colId xmlns:a16="http://schemas.microsoft.com/office/drawing/2014/main" val="696339397"/>
                    </a:ext>
                  </a:extLst>
                </a:gridCol>
              </a:tblGrid>
              <a:tr h="4517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Female%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Adoption Rate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2196318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64%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6135646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4366736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62%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2669230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60%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7534234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40%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50282354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59%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2187465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58%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622399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58%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8124575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57%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60421301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90%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57%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47180665"/>
                  </a:ext>
                </a:extLst>
              </a:tr>
              <a:tr h="2610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56%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90833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929FAF-84D0-D330-B137-6450B15B0E7C}"/>
              </a:ext>
            </a:extLst>
          </p:cNvPr>
          <p:cNvSpPr txBox="1"/>
          <p:nvPr/>
        </p:nvSpPr>
        <p:spPr>
          <a:xfrm>
            <a:off x="592394" y="3855638"/>
            <a:ext cx="394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Female reported are statistically significantly different from what male reported.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132D71F-1CA3-7E28-E5B3-D7C18D665A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2885276"/>
              </p:ext>
            </p:extLst>
          </p:nvPr>
        </p:nvGraphicFramePr>
        <p:xfrm>
          <a:off x="6991912" y="2246119"/>
          <a:ext cx="4572000" cy="2739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74EBE763-5F97-617B-3352-64D2D197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0548"/>
            <a:ext cx="10515600" cy="497306"/>
          </a:xfrm>
        </p:spPr>
        <p:txBody>
          <a:bodyPr>
            <a:normAutofit/>
          </a:bodyPr>
          <a:lstStyle/>
          <a:p>
            <a:r>
              <a:rPr lang="en-US" sz="2800" dirty="0"/>
              <a:t>Evidence on measurement error in Cassava survey: Adoption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48EB61-9C99-BAF4-E044-7804C4A7DD44}"/>
              </a:ext>
            </a:extLst>
          </p:cNvPr>
          <p:cNvSpPr txBox="1"/>
          <p:nvPr/>
        </p:nvSpPr>
        <p:spPr>
          <a:xfrm>
            <a:off x="7623635" y="5045057"/>
            <a:ext cx="4215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Pearson correlation coefficient: -0.97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Two-tailed p-value:</a:t>
            </a: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</a:rPr>
              <a:t> 1.15e-06</a:t>
            </a:r>
            <a:endParaRPr lang="en-US" b="1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181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D33A-8C09-1330-F809-C04E1F07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Paired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351D-7C9B-9AB6-06A6-6D24CFA9E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pair_test_yn</a:t>
            </a:r>
            <a:r>
              <a:rPr lang="en-US" dirty="0"/>
              <a:t> &lt;- </a:t>
            </a:r>
            <a:r>
              <a:rPr lang="en-US" dirty="0" err="1"/>
              <a:t>t.test</a:t>
            </a:r>
            <a:r>
              <a:rPr lang="en-US" dirty="0"/>
              <a:t>(</a:t>
            </a:r>
            <a:r>
              <a:rPr lang="en-US" dirty="0" err="1"/>
              <a:t>hh$M_ICV_HH_yn</a:t>
            </a:r>
            <a:r>
              <a:rPr lang="en-US" dirty="0"/>
              <a:t>, </a:t>
            </a:r>
            <a:r>
              <a:rPr lang="en-US" dirty="0" err="1"/>
              <a:t>hh$F_ICV_HH_yn</a:t>
            </a:r>
            <a:r>
              <a:rPr lang="en-US" dirty="0"/>
              <a:t>, paired =TRUE) </a:t>
            </a:r>
          </a:p>
          <a:p>
            <a:r>
              <a:rPr lang="en-US" dirty="0"/>
              <a:t>Null hypothesis: The mean of the paired differences equals zero in the population.</a:t>
            </a:r>
          </a:p>
          <a:p>
            <a:r>
              <a:rPr lang="en-US" dirty="0"/>
              <a:t>Alternative hypothesis: The mean of the paired differences does not equal zero in the population.	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A2CFD-F00D-57E4-CD3D-983738E5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23716B-4FA9-056E-D6C9-480C2E958C2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959B2F-3DA7-EED9-0668-6B547ACC7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4769130"/>
            <a:ext cx="17618167" cy="630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3F3BAA-266E-2052-EA82-85586B9F4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239" y="3812818"/>
            <a:ext cx="3562335" cy="87610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752780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A1C3-4598-758D-9C33-47E3C06F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Summary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DC05E-A740-A2FD-E5DC-50F726B57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064"/>
            <a:ext cx="3802626" cy="4573528"/>
          </a:xfrm>
        </p:spPr>
        <p:txBody>
          <a:bodyPr/>
          <a:lstStyle/>
          <a:p>
            <a:r>
              <a:rPr lang="en-US" dirty="0"/>
              <a:t>Two zero </a:t>
            </a:r>
            <a:r>
              <a:rPr lang="en-US" dirty="0" err="1"/>
              <a:t>hh</a:t>
            </a:r>
            <a:r>
              <a:rPr lang="en-US" dirty="0"/>
              <a:t> asset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1422-CA28-6835-C9BE-E99AD369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ECF4E7-4C65-AE2C-1383-F3D751D063D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508E56-5DBB-EC67-CA08-DCC11BAA0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35" y="1744902"/>
            <a:ext cx="5277945" cy="21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9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950E-0DDE-A884-5788-3A9FA696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Region ID to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03F98-F5CE-F646-F235-BE911D74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DB55D-0054-E7B4-D2C7-A6486B92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9BAF9E-AADA-33C4-A8D3-85F5866246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1C1D1-AC70-762C-0A17-1E88C62F8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649" y="2214799"/>
            <a:ext cx="3776548" cy="91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13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15D8-49EA-8AFC-2E80-688AE980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Household size is different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534E27-AFF5-6790-BD5A-739D60BF8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969" y="1689011"/>
            <a:ext cx="5442230" cy="17399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32AF9-1A09-7BBB-972B-C971C6E0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196B34-EC9E-676F-1985-974CDB0FB00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5E00B9-1B25-0B8D-6B23-DD430130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69" y="3878905"/>
            <a:ext cx="4642418" cy="12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CE1A-1D4E-2CC8-2CFB-0EB71492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0F076-A197-1BB7-3D19-80CD8474A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20F60-CDCD-A2EF-C266-4FB288A5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621603-B846-66D7-930E-979EB132303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EF71C4-9774-FA2B-C54D-280ACD71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6858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76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BEEE-22B3-10CC-6610-BC55237E2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1004-0FF5-FD46-1ABD-BA043B7A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8AEC6-06D7-849F-814A-B69783D6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5C84A3-0B69-8E41-AA02-B96D9EE8A74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5321A-2889-CC74-B4D8-4AFDB067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970548"/>
            <a:ext cx="3702111" cy="70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12CB-7885-075D-B2B6-3FF93303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8EF9-856F-4C64-7DBA-8BBAB7BAC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B156A-079E-C008-1B21-9F8FDB0A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72C196-3861-B9D5-7C41-3EA0DB7F4CD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95A6FE-B82C-73F6-E71F-51793E066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1105" y="1467854"/>
            <a:ext cx="1091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668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12AF-800F-76F5-D461-B2EB345F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1736C-2613-5D93-88FF-1D2D6B71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D9FA95-CC33-FF63-1FAC-CE74B89325E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3661AB-7D9A-2272-0095-CC190767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620" y="1187072"/>
            <a:ext cx="8629829" cy="544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58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4B54B-F7AE-29F4-1E51-76A5296C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DC0E37-F80F-423B-874D-3C19201AC580}" type="slidenum">
              <a:rPr lang="en-US" altLang="en-US" smtClean="0"/>
              <a:pPr>
                <a:spcAft>
                  <a:spcPts val="600"/>
                </a:spcAft>
              </a:pPr>
              <a:t>20</a:t>
            </a:fld>
            <a:endParaRPr lang="en-US" altLang="en-US"/>
          </a:p>
        </p:txBody>
      </p:sp>
      <p:graphicFrame>
        <p:nvGraphicFramePr>
          <p:cNvPr id="31" name="Content Placeholder 30">
            <a:extLst>
              <a:ext uri="{FF2B5EF4-FFF2-40B4-BE49-F238E27FC236}">
                <a16:creationId xmlns:a16="http://schemas.microsoft.com/office/drawing/2014/main" id="{583F2265-91EC-84D4-7082-F5672DEB9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067927"/>
              </p:ext>
            </p:extLst>
          </p:nvPr>
        </p:nvGraphicFramePr>
        <p:xfrm>
          <a:off x="1006372" y="1294063"/>
          <a:ext cx="9366659" cy="4269874"/>
        </p:xfrm>
        <a:graphic>
          <a:graphicData uri="http://schemas.openxmlformats.org/drawingml/2006/table">
            <a:tbl>
              <a:tblPr/>
              <a:tblGrid>
                <a:gridCol w="1575865">
                  <a:extLst>
                    <a:ext uri="{9D8B030D-6E8A-4147-A177-3AD203B41FA5}">
                      <a16:colId xmlns:a16="http://schemas.microsoft.com/office/drawing/2014/main" val="4200091264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782820502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137075294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2437552094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55912043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477197419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229117084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4247925262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371733643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939936123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852402316"/>
                    </a:ext>
                  </a:extLst>
                </a:gridCol>
                <a:gridCol w="708254">
                  <a:extLst>
                    <a:ext uri="{9D8B030D-6E8A-4147-A177-3AD203B41FA5}">
                      <a16:colId xmlns:a16="http://schemas.microsoft.com/office/drawing/2014/main" val="593629100"/>
                    </a:ext>
                  </a:extLst>
                </a:gridCol>
              </a:tblGrid>
              <a:tr h="8964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Female%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p-value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348443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983431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03427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35104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621265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892771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10305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12141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963724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471923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14496"/>
                  </a:ext>
                </a:extLst>
              </a:tr>
              <a:tr h="30667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0.017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87425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8F08E63-0F7A-4BBC-F410-B5E4C0534680}"/>
              </a:ext>
            </a:extLst>
          </p:cNvPr>
          <p:cNvSpPr txBox="1"/>
          <p:nvPr/>
        </p:nvSpPr>
        <p:spPr>
          <a:xfrm>
            <a:off x="1569985" y="5896831"/>
            <a:ext cx="891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 p-value is in purple (red) if it’s ≤ 0.05 (0.01); </a:t>
            </a:r>
          </a:p>
        </p:txBody>
      </p:sp>
    </p:spTree>
    <p:extLst>
      <p:ext uri="{BB962C8B-B14F-4D97-AF65-F5344CB8AC3E}">
        <p14:creationId xmlns:p14="http://schemas.microsoft.com/office/powerpoint/2010/main" val="3491014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AC85-64A7-3E2B-B4BF-5060FA8B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0771-AE09-F555-EA83-38BD3630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F3487-5E6B-8111-97E6-C3469065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454354-9750-8EB5-DB0A-4AFDE68048E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graphicFrame>
        <p:nvGraphicFramePr>
          <p:cNvPr id="6" name="Google Shape;119;p23">
            <a:extLst>
              <a:ext uri="{FF2B5EF4-FFF2-40B4-BE49-F238E27FC236}">
                <a16:creationId xmlns:a16="http://schemas.microsoft.com/office/drawing/2014/main" id="{53C5A624-5AF4-D48A-3F56-293A4C881F83}"/>
              </a:ext>
            </a:extLst>
          </p:cNvPr>
          <p:cNvGraphicFramePr/>
          <p:nvPr/>
        </p:nvGraphicFramePr>
        <p:xfrm>
          <a:off x="2806765" y="1845587"/>
          <a:ext cx="7088125" cy="31668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estimate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statistic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p.value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number of ICV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0.122085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1.827632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0.068013971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Y/N ICV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0.078189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4.17049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3.41E-05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728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939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443151"/>
            <a:ext cx="5904100" cy="442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1" y="1443134"/>
            <a:ext cx="5904100" cy="44281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5012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0162-E0CD-1639-66C6-61F17FB9C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0AD9F-6D2D-8E64-D499-BD2986AE2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CF188-45FB-8122-432A-D6F2F1CB40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FB044-6CC2-E191-34FC-E460BA6B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01" y="1984379"/>
            <a:ext cx="7732612" cy="182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98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12A5-D492-2633-EAEE-D6FDD5F48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CAE33-18D3-5B39-3689-14929D3FA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2188-8A4B-D64D-3ABB-08BE8ABCF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125BE-163D-D9D0-0AB7-98F5CC16A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22" y="1356967"/>
            <a:ext cx="9197335" cy="469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16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6F35A-42CD-D244-A087-C5845A53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6BC4-75BF-9DA5-BAD0-0BDBD27E5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800" dirty="0">
                <a:solidFill>
                  <a:srgbClr val="333333"/>
                </a:solidFill>
              </a:rPr>
              <a:t>A measurement error is called </a:t>
            </a:r>
            <a:r>
              <a:rPr lang="en-US" sz="2800" b="1" i="1" dirty="0">
                <a:solidFill>
                  <a:srgbClr val="333333"/>
                </a:solidFill>
              </a:rPr>
              <a:t>classical</a:t>
            </a:r>
            <a:r>
              <a:rPr lang="en-US" sz="2800" b="1" dirty="0">
                <a:solidFill>
                  <a:srgbClr val="333333"/>
                </a:solidFill>
              </a:rPr>
              <a:t> </a:t>
            </a:r>
            <a:r>
              <a:rPr lang="en-US" sz="2800" dirty="0">
                <a:solidFill>
                  <a:srgbClr val="333333"/>
                </a:solidFill>
              </a:rPr>
              <a:t>if it is independent of the latent true values; otherwise, it is called </a:t>
            </a:r>
            <a:r>
              <a:rPr lang="en-US" sz="2800" i="1" dirty="0">
                <a:solidFill>
                  <a:srgbClr val="333333"/>
                </a:solidFill>
              </a:rPr>
              <a:t>nonclassical</a:t>
            </a:r>
            <a:r>
              <a:rPr lang="en-US" sz="2800" dirty="0">
                <a:solidFill>
                  <a:srgbClr val="333333"/>
                </a:solidFill>
              </a:rPr>
              <a:t>. There have been many studies on identification and estimation of linear, nonlinear, and even nonparametric models with classical measurement errors, see, e.g. (Cheng and Van Ness </a:t>
            </a:r>
            <a:r>
              <a:rPr lang="en-US" sz="2800" dirty="0">
                <a:solidFill>
                  <a:srgbClr val="10147E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1999</a:t>
            </a:r>
            <a:r>
              <a:rPr lang="en-US" sz="2800" dirty="0">
                <a:solidFill>
                  <a:srgbClr val="333333"/>
                </a:solidFill>
              </a:rPr>
              <a:t>; Carroll, Ruppert, </a:t>
            </a:r>
            <a:r>
              <a:rPr lang="en-US" sz="2800" dirty="0" err="1">
                <a:solidFill>
                  <a:srgbClr val="333333"/>
                </a:solidFill>
              </a:rPr>
              <a:t>Stefanski</a:t>
            </a:r>
            <a:r>
              <a:rPr lang="en-US" sz="2800" dirty="0">
                <a:solidFill>
                  <a:srgbClr val="333333"/>
                </a:solidFill>
              </a:rPr>
              <a:t>, and </a:t>
            </a:r>
            <a:r>
              <a:rPr lang="en-US" sz="2800" dirty="0" err="1">
                <a:solidFill>
                  <a:srgbClr val="333333"/>
                </a:solidFill>
              </a:rPr>
              <a:t>Crainiceanu</a:t>
            </a:r>
            <a:r>
              <a:rPr lang="en-US" sz="2800" dirty="0">
                <a:solidFill>
                  <a:srgbClr val="333333"/>
                </a:solidFill>
              </a:rPr>
              <a:t> </a:t>
            </a:r>
            <a:r>
              <a:rPr lang="en-US" sz="2800" dirty="0">
                <a:solidFill>
                  <a:srgbClr val="10147E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2006</a:t>
            </a:r>
            <a:r>
              <a:rPr lang="en-US" sz="2800" dirty="0">
                <a:solidFill>
                  <a:srgbClr val="333333"/>
                </a:solidFill>
              </a:rPr>
              <a:t>) for detailed reviews. 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rgbClr val="333333"/>
              </a:solidFill>
            </a:endParaRPr>
          </a:p>
          <a:p>
            <a:pPr marL="457200" lvl="0" indent="-304958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US" sz="2800" dirty="0">
                <a:solidFill>
                  <a:srgbClr val="333333"/>
                </a:solidFill>
              </a:rPr>
              <a:t>However, numerous validation studies in survey data sets indicate that the errors in self-reported variables, such as earnings, are typically correlated with the true values, and hence, are </a:t>
            </a:r>
            <a:r>
              <a:rPr lang="en-US" sz="2800" b="1" dirty="0">
                <a:solidFill>
                  <a:srgbClr val="333333"/>
                </a:solidFill>
              </a:rPr>
              <a:t>nonclassical </a:t>
            </a:r>
            <a:r>
              <a:rPr lang="en-US" sz="2800" dirty="0">
                <a:solidFill>
                  <a:srgbClr val="333333"/>
                </a:solidFill>
              </a:rPr>
              <a:t>(Bound, Brown, and Mathiowetz </a:t>
            </a:r>
            <a:r>
              <a:rPr lang="en-US" sz="2800" dirty="0">
                <a:solidFill>
                  <a:srgbClr val="10147E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2001</a:t>
            </a:r>
            <a:r>
              <a:rPr lang="en-US" sz="2800" dirty="0">
                <a:solidFill>
                  <a:srgbClr val="333333"/>
                </a:solidFill>
              </a:rPr>
              <a:t>).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rgbClr val="333333"/>
              </a:solidFill>
            </a:endParaRPr>
          </a:p>
          <a:p>
            <a:pPr marL="457200" lvl="0" indent="-304958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Char char="-"/>
            </a:pPr>
            <a:r>
              <a:rPr lang="en-US" sz="2800" dirty="0" err="1">
                <a:solidFill>
                  <a:srgbClr val="333333"/>
                </a:solidFill>
              </a:rPr>
              <a:t>Nguimkeu</a:t>
            </a:r>
            <a:r>
              <a:rPr lang="en-US" sz="2800" dirty="0">
                <a:solidFill>
                  <a:srgbClr val="333333"/>
                </a:solidFill>
              </a:rPr>
              <a:t> et al. (2019): ”Much less is known about the case in which the regressor and the measurement error are both endogenous.”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lang="en-US" sz="2800" dirty="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sz="2800" dirty="0">
              <a:solidFill>
                <a:srgbClr val="333333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FBCF7-D88F-49C0-76EE-93B53C14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41C893-8AEB-D408-D1E8-536A786E41C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46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F51B-741E-6A0D-6C69-DEEF6C5D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55F2-ED6F-DA64-9ECE-ECA87107A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EC212-AE17-1FFF-E2C2-102B39CE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6FE05B-B4F9-3A6F-5285-1D43243546B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31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FA25-AC63-8166-4CC7-0E5704BC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5D21-E8BA-690B-C590-1BD3CB0B3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000" dirty="0"/>
              <a:t>The importance of incorporating a gender perspective in social and economic sectors 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/>
              <a:t>e.g., Quisumbing et al. (2014); </a:t>
            </a:r>
            <a:r>
              <a:rPr lang="en-US" sz="1800" dirty="0" err="1"/>
              <a:t>Fortmann</a:t>
            </a:r>
            <a:r>
              <a:rPr lang="en-US" sz="1800" dirty="0"/>
              <a:t> (2009)) highlighted that neglecting to acknowledge the varying roles, disparities, and inequalities between men and women in the agricultural sector poses a significant risk to the success of agricultural development efforts</a:t>
            </a:r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/>
              <a:t>Adoption = f(assets, gender, education, etc.)</a:t>
            </a:r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endParaRPr lang="en-US" sz="2000" dirty="0"/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US" sz="2000" dirty="0"/>
              <a:t>Recent studies showed that self-reported data is possibly misclassified (</a:t>
            </a:r>
            <a:r>
              <a:rPr lang="en-US" sz="2000" dirty="0" err="1"/>
              <a:t>Wossen</a:t>
            </a:r>
            <a:r>
              <a:rPr lang="en-US" sz="2000" dirty="0"/>
              <a:t> et al., 2019).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/>
              <a:t>Survey data on participation in social programs is subject to significant misreporting, with levels of misreporting that can reach as high as 50% (Meyer et al., 2009)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 err="1"/>
              <a:t>Wossen</a:t>
            </a:r>
            <a:r>
              <a:rPr lang="en-US" sz="1800" dirty="0"/>
              <a:t> et al. (2019) indicated that the misreporting of adoption status is not exogenous to the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/>
              <a:t>household’s characteristics.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/>
              <a:t>Lynch et al. (2007) and Meyer et al. (2018) report that validation studies always find high rates of false negatives in the Supplemental Nutrition Assistance Program (SNAP) ranging from 20% to 50%, depending on the survey and period after reviewing 35 case studies, 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800" dirty="0" err="1"/>
              <a:t>Ragasa</a:t>
            </a:r>
            <a:r>
              <a:rPr lang="en-US" sz="1800" dirty="0"/>
              <a:t> (2012) found that women have ”much slower observed rates of adoption of a wide range of technologies than men.</a:t>
            </a: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endParaRPr lang="en-US" sz="20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000" dirty="0"/>
              <a:t>A measurement error is called classical if it is independent of the latent true values; otherwise, it is called nonclassical.</a:t>
            </a: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65DD0-FA6A-C7EE-CEB7-1D91D934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C2A9E5-18BD-7AC3-79B0-AEEEEBEC4C9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25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46C7-0F5A-066E-9BF4-6FA862C7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E5A05-4120-90EC-F3B6-030AD23E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A01B85-C06F-CDD2-ECB0-9A09A1EC6D1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3A33DB-FA20-A123-ED68-CC1CA3BA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A667EC-19CF-7B17-02D7-949505D11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84" y="825977"/>
            <a:ext cx="7492365" cy="58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64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C852-E10B-1ACB-CC29-2EC832CE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90EA-158F-09F3-D309-F829B9D6E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52FAC-C01F-6827-AAA9-17C91605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C2048D-433F-C2FC-940F-BC1EDAC9013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6" name="Google Shape;87;p18">
            <a:extLst>
              <a:ext uri="{FF2B5EF4-FFF2-40B4-BE49-F238E27FC236}">
                <a16:creationId xmlns:a16="http://schemas.microsoft.com/office/drawing/2014/main" id="{E2FFD569-6B90-D077-219B-F4036214ADC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22441" y="1807030"/>
            <a:ext cx="8270255" cy="4375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11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571A-73B8-CE8C-E66D-765CEF2D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Correcting for measurement error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603F-7DFC-9464-A742-C09B92E41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Auxiliary dataset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-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IV: Hu, Y. and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Schennach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S.M., 2008. Instrumental variable treatment of nonclassical measurement error models. </a:t>
            </a:r>
            <a:r>
              <a:rPr lang="en-US" sz="2800" i="1" dirty="0" err="1">
                <a:solidFill>
                  <a:srgbClr val="222222"/>
                </a:solidFill>
                <a:highlight>
                  <a:srgbClr val="FFFFFF"/>
                </a:highlight>
              </a:rPr>
              <a:t>Econometrica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76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(1), pp.195-216.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AA88D-DD6B-16E1-2D91-B2FDC2C9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FFC3D3-765F-5F2B-3741-DAF2535330C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16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7858-D69A-A3D3-3A98-6BAF56AA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7CD69-9D15-E1D2-3BA1-1E2A29EC9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2D7BF-67B5-10B4-4A68-F1157422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E37-F80F-423B-874D-3C19201AC580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4924AC-A641-B40C-25D4-96AA7DFE2D7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895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White Background">
  <a:themeElements>
    <a:clrScheme name="Custom 9">
      <a:dk1>
        <a:srgbClr val="B31B1B"/>
      </a:dk1>
      <a:lt1>
        <a:srgbClr val="FFFFFF"/>
      </a:lt1>
      <a:dk2>
        <a:srgbClr val="83003F"/>
      </a:dk2>
      <a:lt2>
        <a:srgbClr val="FFFFFF"/>
      </a:lt2>
      <a:accent1>
        <a:srgbClr val="B31B1B"/>
      </a:accent1>
      <a:accent2>
        <a:srgbClr val="6D0020"/>
      </a:accent2>
      <a:accent3>
        <a:srgbClr val="EF373E"/>
      </a:accent3>
      <a:accent4>
        <a:srgbClr val="8BC0C6"/>
      </a:accent4>
      <a:accent5>
        <a:srgbClr val="B3025B"/>
      </a:accent5>
      <a:accent6>
        <a:srgbClr val="F57F29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31B1B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White Background">
  <a:themeElements>
    <a:clrScheme name="Custom 9">
      <a:dk1>
        <a:srgbClr val="B31B1B"/>
      </a:dk1>
      <a:lt1>
        <a:srgbClr val="FFFFFF"/>
      </a:lt1>
      <a:dk2>
        <a:srgbClr val="83003F"/>
      </a:dk2>
      <a:lt2>
        <a:srgbClr val="FFFFFF"/>
      </a:lt2>
      <a:accent1>
        <a:srgbClr val="B31B1B"/>
      </a:accent1>
      <a:accent2>
        <a:srgbClr val="6D0020"/>
      </a:accent2>
      <a:accent3>
        <a:srgbClr val="EF373E"/>
      </a:accent3>
      <a:accent4>
        <a:srgbClr val="8BC0C6"/>
      </a:accent4>
      <a:accent5>
        <a:srgbClr val="B3025B"/>
      </a:accent5>
      <a:accent6>
        <a:srgbClr val="F57F29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31B1B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1732</Words>
  <Application>Microsoft Macintosh PowerPoint</Application>
  <PresentationFormat>Widescreen</PresentationFormat>
  <Paragraphs>328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Helvetica</vt:lpstr>
      <vt:lpstr>Söhne</vt:lpstr>
      <vt:lpstr>Times New Roman</vt:lpstr>
      <vt:lpstr>1_Office Theme</vt:lpstr>
      <vt:lpstr>White Background</vt:lpstr>
      <vt:lpstr>1_White Background</vt:lpstr>
      <vt:lpstr>PowerPoint Presentation</vt:lpstr>
      <vt:lpstr>Introduction &amp; Motivation</vt:lpstr>
      <vt:lpstr>PowerPoint Presentation</vt:lpstr>
      <vt:lpstr>Introduction &amp; Motivation (count.)</vt:lpstr>
      <vt:lpstr>Introduction &amp; Motivation (count.)</vt:lpstr>
      <vt:lpstr>Overview of the paper </vt:lpstr>
      <vt:lpstr>The impact of measurement error on parameter estimates</vt:lpstr>
      <vt:lpstr>Evidence on measurement error in Cassava survey</vt:lpstr>
      <vt:lpstr>Data</vt:lpstr>
      <vt:lpstr>Data (count.)</vt:lpstr>
      <vt:lpstr>Evidence on measurement error in Cassava survey: Adoption Rate</vt:lpstr>
      <vt:lpstr>Paired t-test</vt:lpstr>
      <vt:lpstr>Data Summary </vt:lpstr>
      <vt:lpstr>Use Region ID to test</vt:lpstr>
      <vt:lpstr>Household size is different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&amp; Motivation</vt:lpstr>
      <vt:lpstr>PowerPoint Presentation</vt:lpstr>
      <vt:lpstr>PowerPoint Presentation</vt:lpstr>
      <vt:lpstr>Correcting for measurement error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2019-06-18T20:31:29Z</dcterms:created>
  <dcterms:modified xsi:type="dcterms:W3CDTF">2023-09-29T15:59:23Z</dcterms:modified>
</cp:coreProperties>
</file>